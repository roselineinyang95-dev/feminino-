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3" r:id="rId1"/>
  </p:sldMasterIdLst>
  <p:sldIdLst>
    <p:sldId id="256" r:id="rId2"/>
    <p:sldId id="259" r:id="rId3"/>
    <p:sldId id="263" r:id="rId4"/>
    <p:sldId id="262" r:id="rId5"/>
    <p:sldId id="267" r:id="rId6"/>
    <p:sldId id="258" r:id="rId7"/>
    <p:sldId id="264" r:id="rId8"/>
    <p:sldId id="257" r:id="rId9"/>
    <p:sldId id="265" r:id="rId10"/>
    <p:sldId id="260" r:id="rId11"/>
    <p:sldId id="266"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204D0E-F28B-4DF7-82CF-94A3FA5FDA9E}"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1156611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204D0E-F28B-4DF7-82CF-94A3FA5FDA9E}"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4258686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204D0E-F28B-4DF7-82CF-94A3FA5FDA9E}"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2720007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204D0E-F28B-4DF7-82CF-94A3FA5FDA9E}"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1" name="Slide Number Placeholder 5"/>
          <p:cNvSpPr>
            <a:spLocks noGrp="1"/>
          </p:cNvSpPr>
          <p:nvPr>
            <p:ph type="sldNum" sz="quarter" idx="12"/>
          </p:nvPr>
        </p:nvSpPr>
        <p:spPr>
          <a:xfrm>
            <a:off x="531812" y="787782"/>
            <a:ext cx="779767" cy="365125"/>
          </a:xfrm>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1836905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204D0E-F28B-4DF7-82CF-94A3FA5FDA9E}"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3" name="Slide Number Placeholder 5"/>
          <p:cNvSpPr>
            <a:spLocks noGrp="1"/>
          </p:cNvSpPr>
          <p:nvPr>
            <p:ph type="sldNum" sz="quarter" idx="12"/>
          </p:nvPr>
        </p:nvSpPr>
        <p:spPr>
          <a:xfrm>
            <a:off x="531812" y="787782"/>
            <a:ext cx="779767" cy="365125"/>
          </a:xfrm>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1596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204D0E-F28B-4DF7-82CF-94A3FA5FDA9E}"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5" name="Slide Number Placeholder 4"/>
          <p:cNvSpPr>
            <a:spLocks noGrp="1"/>
          </p:cNvSpPr>
          <p:nvPr>
            <p:ph type="sldNum" sz="quarter" idx="12"/>
          </p:nvPr>
        </p:nvSpPr>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528595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204D0E-F28B-4DF7-82CF-94A3FA5FDA9E}"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 name="Slide Number Placeholder 3"/>
          <p:cNvSpPr>
            <a:spLocks noGrp="1"/>
          </p:cNvSpPr>
          <p:nvPr>
            <p:ph type="sldNum" sz="quarter" idx="12"/>
          </p:nvPr>
        </p:nvSpPr>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1803542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204D0E-F28B-4DF7-82CF-94A3FA5FDA9E}"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395470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204D0E-F28B-4DF7-82CF-94A3FA5FDA9E}"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3904169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204D0E-F28B-4DF7-82CF-94A3FA5FDA9E}"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840401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204D0E-F28B-4DF7-82CF-94A3FA5FDA9E}"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A9FFECF9-E53D-4128-8831-817A482ADE0C}"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71075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4204D0E-F28B-4DF7-82CF-94A3FA5FDA9E}"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4010614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4204D0E-F28B-4DF7-82CF-94A3FA5FDA9E}"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A9FFECF9-E53D-4128-8831-817A482ADE0C}"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99027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4204D0E-F28B-4DF7-82CF-94A3FA5FDA9E}"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2388887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204D0E-F28B-4DF7-82CF-94A3FA5FDA9E}"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10147679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204D0E-F28B-4DF7-82CF-94A3FA5FDA9E}"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A9FFECF9-E53D-4128-8831-817A482ADE0C}" type="slidenum">
              <a:rPr lang="en-US" smtClean="0"/>
              <a:t>‹#›</a:t>
            </a:fld>
            <a:endParaRPr lang="en-US"/>
          </a:p>
        </p:txBody>
      </p:sp>
    </p:spTree>
    <p:extLst>
      <p:ext uri="{BB962C8B-B14F-4D97-AF65-F5344CB8AC3E}">
        <p14:creationId xmlns:p14="http://schemas.microsoft.com/office/powerpoint/2010/main" val="1541460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4204D0E-F28B-4DF7-82CF-94A3FA5FDA9E}" type="datetimeFigureOut">
              <a:rPr lang="en-US" smtClean="0"/>
              <a:t>11/24/2025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9FFECF9-E53D-4128-8831-817A482ADE0C}" type="slidenum">
              <a:rPr lang="en-US" smtClean="0"/>
              <a:t>‹#›</a:t>
            </a:fld>
            <a:endParaRPr lang="en-US"/>
          </a:p>
        </p:txBody>
      </p:sp>
    </p:spTree>
    <p:extLst>
      <p:ext uri="{BB962C8B-B14F-4D97-AF65-F5344CB8AC3E}">
        <p14:creationId xmlns:p14="http://schemas.microsoft.com/office/powerpoint/2010/main" val="1358069849"/>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 id="2147483885" r:id="rId12"/>
    <p:sldLayoutId id="2147483886" r:id="rId13"/>
    <p:sldLayoutId id="2147483887" r:id="rId14"/>
    <p:sldLayoutId id="2147483888" r:id="rId15"/>
    <p:sldLayoutId id="214748388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85593E-F319-4557-9904-6D69965838C4}"/>
              </a:ext>
            </a:extLst>
          </p:cNvPr>
          <p:cNvSpPr>
            <a:spLocks noGrp="1"/>
          </p:cNvSpPr>
          <p:nvPr>
            <p:ph type="ctrTitle"/>
          </p:nvPr>
        </p:nvSpPr>
        <p:spPr/>
        <p:txBody>
          <a:bodyPr/>
          <a:lstStyle/>
          <a:p>
            <a:r>
              <a:rPr lang="en-US" b="1" dirty="0"/>
              <a:t>FEMININO</a:t>
            </a:r>
            <a:r>
              <a:rPr lang="en-US" dirty="0"/>
              <a:t> </a:t>
            </a:r>
          </a:p>
        </p:txBody>
      </p:sp>
      <p:sp>
        <p:nvSpPr>
          <p:cNvPr id="5" name="Subtitle 4">
            <a:extLst>
              <a:ext uri="{FF2B5EF4-FFF2-40B4-BE49-F238E27FC236}">
                <a16:creationId xmlns:a16="http://schemas.microsoft.com/office/drawing/2014/main" id="{780E3D56-6510-8744-9627-55D85CD57670}"/>
              </a:ext>
            </a:extLst>
          </p:cNvPr>
          <p:cNvSpPr>
            <a:spLocks noGrp="1"/>
          </p:cNvSpPr>
          <p:nvPr>
            <p:ph type="subTitle" idx="1"/>
          </p:nvPr>
        </p:nvSpPr>
        <p:spPr>
          <a:xfrm>
            <a:off x="2589213" y="4777379"/>
            <a:ext cx="3506787" cy="1126283"/>
          </a:xfrm>
        </p:spPr>
        <p:txBody>
          <a:bodyPr>
            <a:normAutofit lnSpcReduction="10000"/>
          </a:bodyPr>
          <a:lstStyle/>
          <a:p>
            <a:r>
              <a:rPr lang="en-US" sz="2400" b="1" dirty="0"/>
              <a:t>BUSINESS PERFORMANCE PROJECT</a:t>
            </a:r>
          </a:p>
        </p:txBody>
      </p:sp>
      <p:pic>
        <p:nvPicPr>
          <p:cNvPr id="3" name="Picture 2">
            <a:extLst>
              <a:ext uri="{FF2B5EF4-FFF2-40B4-BE49-F238E27FC236}">
                <a16:creationId xmlns:a16="http://schemas.microsoft.com/office/drawing/2014/main" id="{AE101DBB-64D8-9865-503E-46F684CC7C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8295" y="0"/>
            <a:ext cx="5983705" cy="6858000"/>
          </a:xfrm>
          <a:prstGeom prst="rect">
            <a:avLst/>
          </a:prstGeom>
        </p:spPr>
      </p:pic>
    </p:spTree>
    <p:extLst>
      <p:ext uri="{BB962C8B-B14F-4D97-AF65-F5344CB8AC3E}">
        <p14:creationId xmlns:p14="http://schemas.microsoft.com/office/powerpoint/2010/main" val="430555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4423E-7940-2E2D-1001-3ADB3EEA0DBD}"/>
              </a:ext>
            </a:extLst>
          </p:cNvPr>
          <p:cNvSpPr>
            <a:spLocks noGrp="1"/>
          </p:cNvSpPr>
          <p:nvPr>
            <p:ph type="title"/>
          </p:nvPr>
        </p:nvSpPr>
        <p:spPr>
          <a:xfrm>
            <a:off x="2592925" y="624110"/>
            <a:ext cx="8911687" cy="1084769"/>
          </a:xfrm>
        </p:spPr>
        <p:txBody>
          <a:bodyPr/>
          <a:lstStyle/>
          <a:p>
            <a:r>
              <a:rPr lang="en-US" b="1" dirty="0"/>
              <a:t>           ABOUT FEMININO</a:t>
            </a:r>
          </a:p>
        </p:txBody>
      </p:sp>
      <p:sp>
        <p:nvSpPr>
          <p:cNvPr id="3" name="Content Placeholder 2">
            <a:extLst>
              <a:ext uri="{FF2B5EF4-FFF2-40B4-BE49-F238E27FC236}">
                <a16:creationId xmlns:a16="http://schemas.microsoft.com/office/drawing/2014/main" id="{7BB9453A-9F16-69F4-41AA-7F6DA8BC8CBA}"/>
              </a:ext>
            </a:extLst>
          </p:cNvPr>
          <p:cNvSpPr>
            <a:spLocks noGrp="1"/>
          </p:cNvSpPr>
          <p:nvPr>
            <p:ph idx="1"/>
          </p:nvPr>
        </p:nvSpPr>
        <p:spPr>
          <a:xfrm>
            <a:off x="2589212" y="1708879"/>
            <a:ext cx="8915400" cy="4202343"/>
          </a:xfrm>
        </p:spPr>
        <p:txBody>
          <a:bodyPr>
            <a:normAutofit/>
          </a:bodyPr>
          <a:lstStyle/>
          <a:p>
            <a:pPr marL="0" indent="0">
              <a:buNone/>
            </a:pPr>
            <a:r>
              <a:rPr lang="en-US" dirty="0"/>
              <a:t>FEMININO is a  luxury fashion brand that specializes on the sales of female under wears, nighties, lingerie and other female essentials.</a:t>
            </a:r>
          </a:p>
          <a:p>
            <a:pPr marL="0" indent="0">
              <a:buNone/>
            </a:pPr>
            <a:r>
              <a:rPr lang="en-US" dirty="0"/>
              <a:t>Over the years, FEMININO has grown steadily, expanded into new areas, and has had a growing customer base and active marketing campaigns across multiple channels. Despite the growth, there are some challenges hovering around the business. It has been difficult to identify high value customers due to not having a clear segmentation of customers. There is also limited insights into which channel delivers the highest conversions and ROI.</a:t>
            </a:r>
          </a:p>
          <a:p>
            <a:pPr marL="0" indent="0">
              <a:buNone/>
            </a:pPr>
            <a:r>
              <a:rPr lang="en-US" dirty="0"/>
              <a:t>Therefore, this project seeks to analyze the customer satisfaction and business performance of the brand while pinpointing our most effective marketing channels in order to enhance perfect running or performance of the business.</a:t>
            </a:r>
          </a:p>
          <a:p>
            <a:endParaRPr lang="en-US" dirty="0"/>
          </a:p>
          <a:p>
            <a:endParaRPr lang="en-US" dirty="0"/>
          </a:p>
        </p:txBody>
      </p:sp>
    </p:spTree>
    <p:extLst>
      <p:ext uri="{BB962C8B-B14F-4D97-AF65-F5344CB8AC3E}">
        <p14:creationId xmlns:p14="http://schemas.microsoft.com/office/powerpoint/2010/main" val="2016017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A5763-3CBE-B779-6224-707152D1ADC0}"/>
              </a:ext>
            </a:extLst>
          </p:cNvPr>
          <p:cNvSpPr>
            <a:spLocks noGrp="1"/>
          </p:cNvSpPr>
          <p:nvPr>
            <p:ph type="title"/>
          </p:nvPr>
        </p:nvSpPr>
        <p:spPr/>
        <p:txBody>
          <a:bodyPr/>
          <a:lstStyle/>
          <a:p>
            <a:r>
              <a:rPr lang="en-US" b="1" dirty="0"/>
              <a:t>PROJECT OBJECTIVES</a:t>
            </a:r>
          </a:p>
        </p:txBody>
      </p:sp>
      <p:sp>
        <p:nvSpPr>
          <p:cNvPr id="3" name="Content Placeholder 2">
            <a:extLst>
              <a:ext uri="{FF2B5EF4-FFF2-40B4-BE49-F238E27FC236}">
                <a16:creationId xmlns:a16="http://schemas.microsoft.com/office/drawing/2014/main" id="{6E0F10B4-18E0-EC70-69C5-5D0F5055B83D}"/>
              </a:ext>
            </a:extLst>
          </p:cNvPr>
          <p:cNvSpPr>
            <a:spLocks noGrp="1"/>
          </p:cNvSpPr>
          <p:nvPr>
            <p:ph idx="1"/>
          </p:nvPr>
        </p:nvSpPr>
        <p:spPr/>
        <p:txBody>
          <a:bodyPr/>
          <a:lstStyle/>
          <a:p>
            <a:r>
              <a:rPr lang="en-US" dirty="0"/>
              <a:t>Analyzing the most effective marketing channels driving engagement and conversions, enabling the business to optimize campaigns, improve delivery performance and enhance customer experience.</a:t>
            </a:r>
          </a:p>
          <a:p>
            <a:r>
              <a:rPr lang="en-US" dirty="0"/>
              <a:t>Evaluating the responsiveness of each marketing channel.</a:t>
            </a:r>
          </a:p>
          <a:p>
            <a:r>
              <a:rPr lang="en-US" dirty="0"/>
              <a:t>Understanding ordering patterns across customer segments and areas.</a:t>
            </a:r>
          </a:p>
          <a:p>
            <a:endParaRPr lang="en-US" dirty="0"/>
          </a:p>
        </p:txBody>
      </p:sp>
    </p:spTree>
    <p:extLst>
      <p:ext uri="{BB962C8B-B14F-4D97-AF65-F5344CB8AC3E}">
        <p14:creationId xmlns:p14="http://schemas.microsoft.com/office/powerpoint/2010/main" val="2726491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B5A6C-9765-B088-FEA5-291583764387}"/>
              </a:ext>
            </a:extLst>
          </p:cNvPr>
          <p:cNvSpPr>
            <a:spLocks noGrp="1"/>
          </p:cNvSpPr>
          <p:nvPr>
            <p:ph type="title"/>
          </p:nvPr>
        </p:nvSpPr>
        <p:spPr>
          <a:xfrm>
            <a:off x="2592925" y="624110"/>
            <a:ext cx="8911687" cy="680034"/>
          </a:xfrm>
        </p:spPr>
        <p:txBody>
          <a:bodyPr>
            <a:normAutofit fontScale="90000"/>
          </a:bodyPr>
          <a:lstStyle/>
          <a:p>
            <a:r>
              <a:rPr lang="en-US" b="1" dirty="0"/>
              <a:t>DATA CLEANING\EXPLORATORY DATA ANALYSIS</a:t>
            </a:r>
          </a:p>
        </p:txBody>
      </p:sp>
      <p:sp>
        <p:nvSpPr>
          <p:cNvPr id="3" name="Content Placeholder 2">
            <a:extLst>
              <a:ext uri="{FF2B5EF4-FFF2-40B4-BE49-F238E27FC236}">
                <a16:creationId xmlns:a16="http://schemas.microsoft.com/office/drawing/2014/main" id="{93EE7AEE-0A35-676F-F598-5D783D4B13D9}"/>
              </a:ext>
            </a:extLst>
          </p:cNvPr>
          <p:cNvSpPr>
            <a:spLocks noGrp="1"/>
          </p:cNvSpPr>
          <p:nvPr>
            <p:ph idx="1"/>
          </p:nvPr>
        </p:nvSpPr>
        <p:spPr>
          <a:xfrm>
            <a:off x="2589212" y="1888760"/>
            <a:ext cx="8915400" cy="4022461"/>
          </a:xfrm>
        </p:spPr>
        <p:txBody>
          <a:bodyPr>
            <a:normAutofit lnSpcReduction="10000"/>
          </a:bodyPr>
          <a:lstStyle/>
          <a:p>
            <a:r>
              <a:rPr lang="en-US" dirty="0"/>
              <a:t>Three tables was merged together, the table consist of Customers, Orders, and Feedback.</a:t>
            </a:r>
          </a:p>
          <a:p>
            <a:r>
              <a:rPr lang="en-US" dirty="0"/>
              <a:t>Found duplicates from merged table, duplicates was in customer_id_x and </a:t>
            </a:r>
            <a:r>
              <a:rPr lang="en-US" dirty="0" err="1"/>
              <a:t>customer_id_y</a:t>
            </a:r>
            <a:r>
              <a:rPr lang="en-US" dirty="0"/>
              <a:t>; I dropped one variable and renamed the other to </a:t>
            </a:r>
            <a:r>
              <a:rPr lang="en-US" dirty="0" err="1"/>
              <a:t>customer_id</a:t>
            </a:r>
            <a:r>
              <a:rPr lang="en-US" dirty="0"/>
              <a:t>. </a:t>
            </a:r>
          </a:p>
          <a:p>
            <a:r>
              <a:rPr lang="en-US" dirty="0"/>
              <a:t>328 missing values was recorded in some of the variable; I dropped some of the variables that was not useful and then dropped the missing values in the other variables.</a:t>
            </a:r>
          </a:p>
          <a:p>
            <a:r>
              <a:rPr lang="en-US" dirty="0"/>
              <a:t>Converted some existing datatype of variable to the appropriate datatype.</a:t>
            </a:r>
          </a:p>
          <a:p>
            <a:r>
              <a:rPr lang="en-US" dirty="0"/>
              <a:t>Created  variables like  “Time of Day” , “Revenue”…etc. for my analysis.</a:t>
            </a:r>
          </a:p>
          <a:p>
            <a:r>
              <a:rPr lang="en-US" dirty="0"/>
              <a:t>Tools used are; Python for Exploratory Data Analysis and Power BI for data visualization.</a:t>
            </a:r>
          </a:p>
        </p:txBody>
      </p:sp>
    </p:spTree>
    <p:extLst>
      <p:ext uri="{BB962C8B-B14F-4D97-AF65-F5344CB8AC3E}">
        <p14:creationId xmlns:p14="http://schemas.microsoft.com/office/powerpoint/2010/main" val="4033596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C4C3-5A4E-8997-DC71-4A18D72D5D3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54DE5DF-CA22-C5DC-EF46-E8347A192F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1" cy="6917961"/>
          </a:xfrm>
        </p:spPr>
      </p:pic>
    </p:spTree>
    <p:extLst>
      <p:ext uri="{BB962C8B-B14F-4D97-AF65-F5344CB8AC3E}">
        <p14:creationId xmlns:p14="http://schemas.microsoft.com/office/powerpoint/2010/main" val="802649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B5FBC-760C-D9FA-4F28-9CAC15B18CD5}"/>
              </a:ext>
            </a:extLst>
          </p:cNvPr>
          <p:cNvSpPr>
            <a:spLocks noGrp="1"/>
          </p:cNvSpPr>
          <p:nvPr>
            <p:ph type="title"/>
          </p:nvPr>
        </p:nvSpPr>
        <p:spPr/>
        <p:txBody>
          <a:bodyPr/>
          <a:lstStyle/>
          <a:p>
            <a:r>
              <a:rPr lang="en-US" b="1" dirty="0"/>
              <a:t>FINDINGS AND INSIGHTS</a:t>
            </a:r>
          </a:p>
        </p:txBody>
      </p:sp>
      <p:sp>
        <p:nvSpPr>
          <p:cNvPr id="3" name="Content Placeholder 2">
            <a:extLst>
              <a:ext uri="{FF2B5EF4-FFF2-40B4-BE49-F238E27FC236}">
                <a16:creationId xmlns:a16="http://schemas.microsoft.com/office/drawing/2014/main" id="{1E0FBBF3-BEEC-A10A-A248-D8C3C0F01C87}"/>
              </a:ext>
            </a:extLst>
          </p:cNvPr>
          <p:cNvSpPr>
            <a:spLocks noGrp="1"/>
          </p:cNvSpPr>
          <p:nvPr>
            <p:ph idx="1"/>
          </p:nvPr>
        </p:nvSpPr>
        <p:spPr>
          <a:xfrm>
            <a:off x="2338466" y="1618937"/>
            <a:ext cx="7260609" cy="4614953"/>
          </a:xfrm>
        </p:spPr>
        <p:txBody>
          <a:bodyPr>
            <a:normAutofit/>
          </a:bodyPr>
          <a:lstStyle/>
          <a:p>
            <a:r>
              <a:rPr lang="en-US" b="1" dirty="0"/>
              <a:t>Question 1</a:t>
            </a:r>
            <a:r>
              <a:rPr lang="en-US" dirty="0"/>
              <a:t>:</a:t>
            </a:r>
            <a:r>
              <a:rPr lang="en-US" b="1" dirty="0"/>
              <a:t>Are there certain areas that needs delivery improvements?</a:t>
            </a:r>
          </a:p>
          <a:p>
            <a:pPr marL="0" indent="0">
              <a:buNone/>
            </a:pPr>
            <a:r>
              <a:rPr lang="en-US" dirty="0"/>
              <a:t>The analysis shows that there are certain areas marked on the map shows that needs delivery improvement recommendation.</a:t>
            </a:r>
            <a:endParaRPr lang="en-US" b="1" dirty="0"/>
          </a:p>
          <a:p>
            <a:r>
              <a:rPr lang="en-US" b="1" dirty="0"/>
              <a:t>Question 2</a:t>
            </a:r>
            <a:r>
              <a:rPr lang="en-US" dirty="0"/>
              <a:t>: </a:t>
            </a:r>
            <a:r>
              <a:rPr lang="en-US" b="1" dirty="0"/>
              <a:t>What product generate the highest revenue?</a:t>
            </a:r>
          </a:p>
          <a:p>
            <a:pPr marL="0" indent="0">
              <a:buNone/>
            </a:pPr>
            <a:r>
              <a:rPr lang="en-US" dirty="0"/>
              <a:t>The product with the highest revenue is BIKINI PANTIES, generating  </a:t>
            </a:r>
            <a:r>
              <a:rPr lang="en-US" strike="sngStrike" dirty="0"/>
              <a:t>N</a:t>
            </a:r>
            <a:r>
              <a:rPr lang="en-US" dirty="0"/>
              <a:t>751,850     followed by matching bra &amp; panties at</a:t>
            </a:r>
            <a:r>
              <a:rPr lang="en-US" strike="sngStrike" dirty="0"/>
              <a:t> N</a:t>
            </a:r>
            <a:r>
              <a:rPr lang="en-US" dirty="0"/>
              <a:t>611,820</a:t>
            </a:r>
          </a:p>
          <a:p>
            <a:r>
              <a:rPr lang="en-US" b="1" dirty="0"/>
              <a:t>Question 3: Which areas have the highest number of orders ?</a:t>
            </a:r>
          </a:p>
          <a:p>
            <a:pPr marL="0" indent="0">
              <a:buNone/>
            </a:pPr>
            <a:r>
              <a:rPr lang="en-US" dirty="0"/>
              <a:t>      UYO has the highest number of orders at 2752, followed by Jos 2,642</a:t>
            </a:r>
            <a:endParaRPr lang="en-US" b="1" dirty="0"/>
          </a:p>
          <a:p>
            <a:pPr marL="0" indent="0">
              <a:buNone/>
            </a:pPr>
            <a:br>
              <a:rPr lang="en-US" dirty="0"/>
            </a:br>
            <a:endParaRPr lang="en-US" strike="sngStrike" dirty="0"/>
          </a:p>
          <a:p>
            <a:endParaRPr lang="en-US" dirty="0"/>
          </a:p>
        </p:txBody>
      </p:sp>
    </p:spTree>
    <p:extLst>
      <p:ext uri="{BB962C8B-B14F-4D97-AF65-F5344CB8AC3E}">
        <p14:creationId xmlns:p14="http://schemas.microsoft.com/office/powerpoint/2010/main" val="3966287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BB3CB-3EEC-8D02-D1BC-8A288ECECEC9}"/>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3D3D36A9-D2B0-A1BB-E9A8-477C39CC08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9902" y="1"/>
            <a:ext cx="12341902" cy="6745574"/>
          </a:xfrm>
        </p:spPr>
      </p:pic>
    </p:spTree>
    <p:extLst>
      <p:ext uri="{BB962C8B-B14F-4D97-AF65-F5344CB8AC3E}">
        <p14:creationId xmlns:p14="http://schemas.microsoft.com/office/powerpoint/2010/main" val="218297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17A4D-9B60-E517-0641-35DBFD1899D6}"/>
              </a:ext>
            </a:extLst>
          </p:cNvPr>
          <p:cNvSpPr>
            <a:spLocks noGrp="1"/>
          </p:cNvSpPr>
          <p:nvPr>
            <p:ph type="title"/>
          </p:nvPr>
        </p:nvSpPr>
        <p:spPr/>
        <p:txBody>
          <a:bodyPr/>
          <a:lstStyle/>
          <a:p>
            <a:r>
              <a:rPr lang="en-US" b="1" dirty="0"/>
              <a:t>FINDINGS AND INSIGHTS</a:t>
            </a:r>
            <a:endParaRPr lang="en-US" dirty="0"/>
          </a:p>
        </p:txBody>
      </p:sp>
      <p:sp>
        <p:nvSpPr>
          <p:cNvPr id="3" name="Content Placeholder 2">
            <a:extLst>
              <a:ext uri="{FF2B5EF4-FFF2-40B4-BE49-F238E27FC236}">
                <a16:creationId xmlns:a16="http://schemas.microsoft.com/office/drawing/2014/main" id="{6F907B53-2FCE-0C55-E052-F05052881E67}"/>
              </a:ext>
            </a:extLst>
          </p:cNvPr>
          <p:cNvSpPr>
            <a:spLocks noGrp="1"/>
          </p:cNvSpPr>
          <p:nvPr>
            <p:ph idx="1"/>
          </p:nvPr>
        </p:nvSpPr>
        <p:spPr>
          <a:xfrm>
            <a:off x="2592925" y="1558976"/>
            <a:ext cx="7675337" cy="5021705"/>
          </a:xfrm>
        </p:spPr>
        <p:txBody>
          <a:bodyPr>
            <a:normAutofit/>
          </a:bodyPr>
          <a:lstStyle/>
          <a:p>
            <a:r>
              <a:rPr lang="en-US" b="1" dirty="0"/>
              <a:t>Question 4:What time of the day do customers make their most order?</a:t>
            </a:r>
            <a:br>
              <a:rPr lang="en-US" b="1" dirty="0"/>
            </a:br>
            <a:r>
              <a:rPr lang="en-US" dirty="0"/>
              <a:t>The</a:t>
            </a:r>
            <a:r>
              <a:rPr lang="en-US" b="1" dirty="0"/>
              <a:t> </a:t>
            </a:r>
            <a:r>
              <a:rPr lang="en-US" dirty="0"/>
              <a:t>NIGHT period has the highest number of orders, significantly surpassing all other time of day. It shows that the majority of customers orders occurs during the NIGHT.</a:t>
            </a:r>
            <a:endParaRPr lang="en-US" b="1" dirty="0"/>
          </a:p>
          <a:p>
            <a:r>
              <a:rPr lang="en-US" b="1" dirty="0"/>
              <a:t>Question 5: What is the most preferred mode of payment?</a:t>
            </a:r>
            <a:br>
              <a:rPr lang="en-US" b="1" dirty="0"/>
            </a:br>
            <a:r>
              <a:rPr lang="en-US" dirty="0"/>
              <a:t>The preferred modes are very evenly spilled among all the four options but MOBILE CARD tops the list.</a:t>
            </a:r>
          </a:p>
          <a:p>
            <a:r>
              <a:rPr lang="en-US" b="1" dirty="0"/>
              <a:t>Question 6: How is the overall business performance overtime?</a:t>
            </a:r>
          </a:p>
          <a:p>
            <a:pPr marL="0" indent="0">
              <a:buNone/>
            </a:pPr>
            <a:r>
              <a:rPr lang="en-US" dirty="0"/>
              <a:t>The trend shows revenue fluctuations, it indicates that while the business maintained consistent growth for most of the period, there was a notable drop towards the end, suggesting possible seasonal or operational challenges.  </a:t>
            </a:r>
          </a:p>
          <a:p>
            <a:endParaRPr lang="en-US" dirty="0"/>
          </a:p>
          <a:p>
            <a:endParaRPr lang="en-US" b="1" dirty="0"/>
          </a:p>
          <a:p>
            <a:pPr marL="0" indent="0">
              <a:buNone/>
            </a:pPr>
            <a:endParaRPr lang="en-US" dirty="0"/>
          </a:p>
        </p:txBody>
      </p:sp>
    </p:spTree>
    <p:extLst>
      <p:ext uri="{BB962C8B-B14F-4D97-AF65-F5344CB8AC3E}">
        <p14:creationId xmlns:p14="http://schemas.microsoft.com/office/powerpoint/2010/main" val="2679679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00EC8-D8B5-7792-5914-84AED2E16A3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BACF1C9-F632-15B0-7EDA-3A855B278B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912" y="1"/>
            <a:ext cx="12057088" cy="6858000"/>
          </a:xfrm>
        </p:spPr>
      </p:pic>
    </p:spTree>
    <p:extLst>
      <p:ext uri="{BB962C8B-B14F-4D97-AF65-F5344CB8AC3E}">
        <p14:creationId xmlns:p14="http://schemas.microsoft.com/office/powerpoint/2010/main" val="326055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0AEB0-B44F-D885-A332-270CED3607DB}"/>
              </a:ext>
            </a:extLst>
          </p:cNvPr>
          <p:cNvSpPr>
            <a:spLocks noGrp="1"/>
          </p:cNvSpPr>
          <p:nvPr>
            <p:ph type="title"/>
          </p:nvPr>
        </p:nvSpPr>
        <p:spPr/>
        <p:txBody>
          <a:bodyPr/>
          <a:lstStyle/>
          <a:p>
            <a:r>
              <a:rPr lang="en-US" b="1" dirty="0"/>
              <a:t>FINDINGS AND INSIGHTS</a:t>
            </a:r>
            <a:endParaRPr lang="en-US" dirty="0"/>
          </a:p>
        </p:txBody>
      </p:sp>
      <p:sp>
        <p:nvSpPr>
          <p:cNvPr id="3" name="Content Placeholder 2">
            <a:extLst>
              <a:ext uri="{FF2B5EF4-FFF2-40B4-BE49-F238E27FC236}">
                <a16:creationId xmlns:a16="http://schemas.microsoft.com/office/drawing/2014/main" id="{3064F627-05A5-4095-4B61-8D9301490477}"/>
              </a:ext>
            </a:extLst>
          </p:cNvPr>
          <p:cNvSpPr>
            <a:spLocks noGrp="1"/>
          </p:cNvSpPr>
          <p:nvPr>
            <p:ph idx="1"/>
          </p:nvPr>
        </p:nvSpPr>
        <p:spPr>
          <a:xfrm>
            <a:off x="2323475" y="1469037"/>
            <a:ext cx="8664315" cy="4764854"/>
          </a:xfrm>
        </p:spPr>
        <p:txBody>
          <a:bodyPr>
            <a:normAutofit fontScale="85000" lnSpcReduction="10000"/>
          </a:bodyPr>
          <a:lstStyle/>
          <a:p>
            <a:r>
              <a:rPr lang="en-US" b="1" dirty="0"/>
              <a:t>Question 7: What is the most preferred mode of payment?</a:t>
            </a:r>
          </a:p>
          <a:p>
            <a:pPr marL="0" indent="0">
              <a:buNone/>
            </a:pPr>
            <a:r>
              <a:rPr lang="en-US" dirty="0"/>
              <a:t>The preferred modes are very evenly spilled among all the four options but MOBILE CARD tops the list.</a:t>
            </a:r>
          </a:p>
          <a:p>
            <a:r>
              <a:rPr lang="en-US" b="1" dirty="0"/>
              <a:t>Question 8: Analyze &amp; compare performance across channels(highest conversions)</a:t>
            </a:r>
          </a:p>
          <a:p>
            <a:pPr marL="0" indent="0">
              <a:buNone/>
            </a:pPr>
            <a:r>
              <a:rPr lang="en-US" dirty="0"/>
              <a:t>APP is the highest converting channel with 75,192 conversions. The conversions are highly competitive across the 3 channels indicating a strong performance across digital platforms.</a:t>
            </a:r>
          </a:p>
          <a:p>
            <a:r>
              <a:rPr lang="en-US" b="1" dirty="0"/>
              <a:t>Question 9</a:t>
            </a:r>
            <a:r>
              <a:rPr lang="en-US" dirty="0"/>
              <a:t>:</a:t>
            </a:r>
            <a:r>
              <a:rPr lang="en-US" b="1" dirty="0"/>
              <a:t>What Customer Segment brings in the most revenue or orders more frequently</a:t>
            </a:r>
            <a:r>
              <a:rPr lang="en-US" dirty="0"/>
              <a:t> ?</a:t>
            </a:r>
          </a:p>
          <a:p>
            <a:pPr marL="0" indent="0">
              <a:buNone/>
            </a:pPr>
            <a:r>
              <a:rPr lang="en-US" dirty="0"/>
              <a:t>REGULAR customer segment generates the highest number of orders reaching nearly 300,000 followed closely  by  the NEW segment.</a:t>
            </a:r>
            <a:endParaRPr lang="en-US" b="1" dirty="0"/>
          </a:p>
          <a:p>
            <a:r>
              <a:rPr lang="en-US" b="1" dirty="0"/>
              <a:t>Question 10: The level of satisfaction across ratings</a:t>
            </a:r>
          </a:p>
          <a:p>
            <a:pPr marL="0" indent="0">
              <a:buNone/>
            </a:pPr>
            <a:r>
              <a:rPr lang="en-US" dirty="0"/>
              <a:t>The analysis of customers level of satisfaction by customers based on rating shows that majority of the customers gave their rating review as 4-star(34.16%) followed by 3-star (27.96%).This indicates that while customers generally have a positive perception of the business, there is still room for improvement in achieving  higher satisfaction levels. Only 16.32% give 5-star ratings which suggest that customers are moderately satisfied but not fully delighted with their experience.</a:t>
            </a:r>
            <a:endParaRPr lang="en-US" b="1" dirty="0"/>
          </a:p>
          <a:p>
            <a:pPr marL="0" indent="0" algn="ctr">
              <a:buNone/>
            </a:pPr>
            <a:endParaRPr lang="en-US" dirty="0"/>
          </a:p>
        </p:txBody>
      </p:sp>
    </p:spTree>
    <p:extLst>
      <p:ext uri="{BB962C8B-B14F-4D97-AF65-F5344CB8AC3E}">
        <p14:creationId xmlns:p14="http://schemas.microsoft.com/office/powerpoint/2010/main" val="4094133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C78AF-E2D1-E2D0-EC8C-F33CECAE8D9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DB1590C-AA11-2E28-A9AF-9B1FB64A7A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321914" cy="6858000"/>
          </a:xfrm>
        </p:spPr>
      </p:pic>
    </p:spTree>
    <p:extLst>
      <p:ext uri="{BB962C8B-B14F-4D97-AF65-F5344CB8AC3E}">
        <p14:creationId xmlns:p14="http://schemas.microsoft.com/office/powerpoint/2010/main" val="2521975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4C678-36A1-A8B9-921F-EC4E8A29AFF7}"/>
              </a:ext>
            </a:extLst>
          </p:cNvPr>
          <p:cNvSpPr>
            <a:spLocks noGrp="1"/>
          </p:cNvSpPr>
          <p:nvPr>
            <p:ph type="title"/>
          </p:nvPr>
        </p:nvSpPr>
        <p:spPr/>
        <p:txBody>
          <a:bodyPr/>
          <a:lstStyle/>
          <a:p>
            <a:r>
              <a:rPr lang="en-US" b="1" dirty="0"/>
              <a:t>RECOMMENDATIONS</a:t>
            </a:r>
          </a:p>
        </p:txBody>
      </p:sp>
      <p:sp>
        <p:nvSpPr>
          <p:cNvPr id="3" name="Content Placeholder 2">
            <a:extLst>
              <a:ext uri="{FF2B5EF4-FFF2-40B4-BE49-F238E27FC236}">
                <a16:creationId xmlns:a16="http://schemas.microsoft.com/office/drawing/2014/main" id="{32351A34-7D0F-4613-EA58-F1E662895EEB}"/>
              </a:ext>
            </a:extLst>
          </p:cNvPr>
          <p:cNvSpPr>
            <a:spLocks noGrp="1"/>
          </p:cNvSpPr>
          <p:nvPr>
            <p:ph idx="1"/>
          </p:nvPr>
        </p:nvSpPr>
        <p:spPr>
          <a:xfrm>
            <a:off x="2589212" y="1395663"/>
            <a:ext cx="8915400" cy="4515560"/>
          </a:xfrm>
        </p:spPr>
        <p:txBody>
          <a:bodyPr>
            <a:normAutofit/>
          </a:bodyPr>
          <a:lstStyle/>
          <a:p>
            <a:r>
              <a:rPr lang="en-US" dirty="0"/>
              <a:t>Conduct a survey for the 4-star to know what could been done better to deserve a 5-star rating as well as customers who gave  1-star and 2-star through surveys or follow-ups to understand their pain points and address recurring complaints.</a:t>
            </a:r>
          </a:p>
          <a:p>
            <a:r>
              <a:rPr lang="en-US" dirty="0"/>
              <a:t>Focus on enhancing customer experience through delivery speed, product quality and support to move customers from 3-4stars to 5-star.</a:t>
            </a:r>
          </a:p>
          <a:p>
            <a:r>
              <a:rPr lang="en-US" dirty="0"/>
              <a:t>Investigate the reasons for the revenue decline in the last quarter of 2024, this could be due to reduced demand, marketing inactivity, or supply challenges.</a:t>
            </a:r>
          </a:p>
          <a:p>
            <a:r>
              <a:rPr lang="en-US" dirty="0"/>
              <a:t>Give exclusive discount for the regular segment to lock in repeat purchases and increase their ordering frequency.</a:t>
            </a:r>
          </a:p>
          <a:p>
            <a:r>
              <a:rPr lang="en-US" dirty="0"/>
              <a:t>Focus on investigating and improving logistics, speed and reliability in the specific locations highlighted on the map.</a:t>
            </a:r>
          </a:p>
          <a:p>
            <a:pPr marL="0" indent="0">
              <a:buNone/>
            </a:pPr>
            <a:endParaRPr lang="en-US" dirty="0"/>
          </a:p>
        </p:txBody>
      </p:sp>
    </p:spTree>
    <p:extLst>
      <p:ext uri="{BB962C8B-B14F-4D97-AF65-F5344CB8AC3E}">
        <p14:creationId xmlns:p14="http://schemas.microsoft.com/office/powerpoint/2010/main" val="4114715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3290</TotalTime>
  <Words>870</Words>
  <Application>Microsoft Office PowerPoint</Application>
  <PresentationFormat>Widescreen</PresentationFormat>
  <Paragraphs>46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Wisp</vt:lpstr>
      <vt:lpstr>FEMININO </vt:lpstr>
      <vt:lpstr>           ABOUT FEMININO</vt:lpstr>
      <vt:lpstr>PROJECT OBJECTIVES</vt:lpstr>
      <vt:lpstr>DATA CLEANING\EXPLORATORY DATA ANALYSIS</vt:lpstr>
      <vt:lpstr>PowerPoint Presentation</vt:lpstr>
      <vt:lpstr>FINDINGS AND INSIGHTS</vt:lpstr>
      <vt:lpstr>PowerPoint Presentation</vt:lpstr>
      <vt:lpstr>FINDINGS AND INSIGHTS</vt:lpstr>
      <vt:lpstr>PowerPoint Presentation</vt:lpstr>
      <vt:lpstr>FINDINGS AND INSIGHTS</vt:lpstr>
      <vt:lpstr>PowerPoint Presentation</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roselineinyang95@gmail.com</dc:creator>
  <cp:lastModifiedBy>Roseline Inyang</cp:lastModifiedBy>
  <cp:revision>5</cp:revision>
  <dcterms:created xsi:type="dcterms:W3CDTF">2025-11-12T14:56:09Z</dcterms:created>
  <dcterms:modified xsi:type="dcterms:W3CDTF">2025-11-26T15:37:51Z</dcterms:modified>
</cp:coreProperties>
</file>